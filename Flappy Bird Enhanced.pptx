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_rels/presentation.xml.rels" ContentType="application/vnd.openxmlformats-package.relationship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media/image1.jpeg" ContentType="image/jpeg"/>
  <Override PartName="/ppt/media/image2.png" ContentType="image/png"/>
  <Override PartName="/ppt/media/image3.png" ContentType="image/png"/>
  <Override PartName="/ppt/media/image6.jpeg" ContentType="image/jpeg"/>
  <Override PartName="/ppt/media/image4.jpeg" ContentType="image/jpeg"/>
  <Override PartName="/ppt/media/image5.jpeg" ContentType="image/jpeg"/>
  <Override PartName="/ppt/media/image7.png" ContentType="image/png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9144000" cy="51435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7D52013-D64C-422F-A849-61271013A84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311760" y="105840"/>
            <a:ext cx="851940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XO Orie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XO Orie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3BD147E-5FDA-4598-8006-E855AD64335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311760" y="105840"/>
            <a:ext cx="851940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XO Orie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XO Orie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4BEB91E-4EA3-42EB-A440-CB48A81EB8F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311760" y="105840"/>
            <a:ext cx="851940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XO Orie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XO Orie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388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XO Orie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56DDA69-736A-4F2D-8E48-AA6A601FBF5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311760" y="105840"/>
            <a:ext cx="851940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XO Orie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276902D-3A4C-4240-9AF8-67A751906E8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subTitle"/>
          </p:nvPr>
        </p:nvSpPr>
        <p:spPr>
          <a:xfrm>
            <a:off x="311760" y="444960"/>
            <a:ext cx="8519400" cy="265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ru-RU" sz="3200" spc="-1" strike="noStrike">
              <a:solidFill>
                <a:srgbClr val="000000"/>
              </a:solidFill>
              <a:latin typeface="XO Orie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25E1CA6-9699-4260-BC70-231A7D5B04A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311760" y="105840"/>
            <a:ext cx="851940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XO Orie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XO Orie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467388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XO Orie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/>
          </p:nvPr>
        </p:nvSpPr>
        <p:spPr>
          <a:xfrm>
            <a:off x="457200" y="276120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XO Orie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ECEF18B-F6BD-4EE7-A973-88C5A3E0BF0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311760" y="105840"/>
            <a:ext cx="851940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XO Orie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XO Orie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467388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XO Orie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/>
          </p:nvPr>
        </p:nvSpPr>
        <p:spPr>
          <a:xfrm>
            <a:off x="4673880" y="276120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XO Orie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7F0EC71-012E-40B7-9EA0-8226CED8448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311760" y="105840"/>
            <a:ext cx="851940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XO Orie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XO Orie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467388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XO Oriel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/>
          </p:nvPr>
        </p:nvSpPr>
        <p:spPr>
          <a:xfrm>
            <a:off x="457200" y="276120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XO Orie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5E12839-1D23-4913-8640-D0A13609620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311760" y="105840"/>
            <a:ext cx="851940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XO Orie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XO Orie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457200" y="276120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XO Orie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2583868-CE97-4F14-80DC-AA0EDB55717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311760" y="105840"/>
            <a:ext cx="851940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XO Orie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XO Orie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67388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XO Orie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457200" y="276120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XO Orie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673880" y="276120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XO Orie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1BF5549-7EF8-4C6F-B71F-AD58173C36D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311760" y="105840"/>
            <a:ext cx="851940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XO Orie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4992" lnSpcReduction="20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XO Orie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4992" lnSpcReduction="20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XO Oriel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4992" lnSpcReduction="20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XO Oriel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/>
          </p:nvPr>
        </p:nvSpPr>
        <p:spPr>
          <a:xfrm>
            <a:off x="457200" y="2761200"/>
            <a:ext cx="264960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4992" lnSpcReduction="20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XO Oriel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/>
          </p:nvPr>
        </p:nvSpPr>
        <p:spPr>
          <a:xfrm>
            <a:off x="3239640" y="2761200"/>
            <a:ext cx="264960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4992" lnSpcReduction="20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XO Oriel"/>
            </a:endParaRPr>
          </a:p>
        </p:txBody>
      </p:sp>
      <p:sp>
        <p:nvSpPr>
          <p:cNvPr id="42" name="PlaceHolder 7"/>
          <p:cNvSpPr>
            <a:spLocks noGrp="1"/>
          </p:cNvSpPr>
          <p:nvPr>
            <p:ph/>
          </p:nvPr>
        </p:nvSpPr>
        <p:spPr>
          <a:xfrm>
            <a:off x="6022080" y="2761200"/>
            <a:ext cx="264960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4992" lnSpcReduction="20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XO Orie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C0252D0-0E36-412E-A6A6-2E50218C7E1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400" cy="571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XO Orie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XO Orie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XO Orie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XO Orie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XO Orie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XO Orie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XO Orie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XO Orie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XO Orie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XO Orie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XO Orie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XO Orie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XO Orie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XO Orie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XO Orie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XO Orie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XO Orie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XO Orie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XO Orie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XO Orie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XO Orie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XO Orie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XO Orie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XO Orie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XO Orie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XO Orie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XO Orie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XO Orie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XO Orie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XO Orie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XO Orie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XO Orie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XO Orie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XO Orie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XO Orie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XO Orie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XO Orie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XO Orie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XO Orie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XO Orie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XO Orie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XO Orie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XO Orie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XO Orie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ftr" idx="1"/>
          </p:nvPr>
        </p:nvSpPr>
        <p:spPr>
          <a:xfrm>
            <a:off x="3029040" y="4767120"/>
            <a:ext cx="3085200" cy="27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6"/>
          <p:cNvSpPr>
            <a:spLocks noGrp="1"/>
          </p:cNvSpPr>
          <p:nvPr>
            <p:ph type="sldNum" idx="2"/>
          </p:nvPr>
        </p:nvSpPr>
        <p:spPr>
          <a:xfrm>
            <a:off x="6458040" y="4767120"/>
            <a:ext cx="2056320" cy="27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9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F79FB85-8A60-426B-9C88-B75F0CF5C429}" type="slidenum">
              <a:rPr b="0" lang="ru-RU" sz="900" spc="-1" strike="noStrike">
                <a:solidFill>
                  <a:srgbClr val="888888"/>
                </a:solidFill>
                <a:latin typeface="Calibri"/>
                <a:ea typeface="Calibri"/>
              </a:rPr>
              <a:t>&lt;номер&gt;</a:t>
            </a:fld>
            <a:endParaRPr b="0" lang="ru-RU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7"/>
          <p:cNvSpPr>
            <a:spLocks noGrp="1"/>
          </p:cNvSpPr>
          <p:nvPr>
            <p:ph type="dt" idx="3"/>
          </p:nvPr>
        </p:nvSpPr>
        <p:spPr>
          <a:xfrm>
            <a:off x="628560" y="4767120"/>
            <a:ext cx="2056320" cy="27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image" Target="../media/image5.jpeg"/><Relationship Id="rId3" Type="http://schemas.openxmlformats.org/officeDocument/2006/relationships/image" Target="../media/image6.jpeg"/><Relationship Id="rId4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99;p1"/>
          <p:cNvSpPr/>
          <p:nvPr/>
        </p:nvSpPr>
        <p:spPr>
          <a:xfrm>
            <a:off x="1042920" y="720000"/>
            <a:ext cx="7056720" cy="82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90000"/>
              </a:lnSpc>
              <a:tabLst>
                <a:tab algn="l" pos="0"/>
              </a:tabLst>
            </a:pPr>
            <a:r>
              <a:rPr b="1" lang="ru-RU" sz="4700" spc="-1" strike="noStrike">
                <a:solidFill>
                  <a:srgbClr val="ffffff"/>
                </a:solidFill>
                <a:latin typeface="Montserrat"/>
                <a:ea typeface="Montserrat"/>
              </a:rPr>
              <a:t>Flappy Bird Enhanced</a:t>
            </a:r>
            <a:endParaRPr b="0" lang="ru-RU" sz="4700" spc="-1" strike="noStrike">
              <a:solidFill>
                <a:srgbClr val="000000"/>
              </a:solidFill>
              <a:latin typeface="XO Oriel"/>
            </a:endParaRPr>
          </a:p>
        </p:txBody>
      </p:sp>
      <p:pic>
        <p:nvPicPr>
          <p:cNvPr id="44" name="Google Shape;100;p1" descr=""/>
          <p:cNvPicPr/>
          <p:nvPr/>
        </p:nvPicPr>
        <p:blipFill>
          <a:blip r:embed="rId2"/>
          <a:srcRect l="0" t="0" r="0" b="15675"/>
          <a:stretch/>
        </p:blipFill>
        <p:spPr>
          <a:xfrm>
            <a:off x="3426120" y="2935440"/>
            <a:ext cx="2290680" cy="1881360"/>
          </a:xfrm>
          <a:prstGeom prst="rect">
            <a:avLst/>
          </a:prstGeom>
          <a:ln w="0">
            <a:noFill/>
          </a:ln>
        </p:spPr>
      </p:pic>
      <p:sp>
        <p:nvSpPr>
          <p:cNvPr id="45" name="Google Shape;101;p1"/>
          <p:cNvSpPr/>
          <p:nvPr/>
        </p:nvSpPr>
        <p:spPr>
          <a:xfrm>
            <a:off x="1980000" y="2085840"/>
            <a:ext cx="50392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ru-RU" sz="1400" spc="-1" strike="noStrike">
                <a:solidFill>
                  <a:schemeClr val="lt1"/>
                </a:solidFill>
                <a:latin typeface="Montserrat"/>
                <a:ea typeface="Montserrat"/>
              </a:rPr>
              <a:t>Автор: Ходырев Алексей</a:t>
            </a:r>
            <a:endParaRPr b="0" lang="ru-RU" sz="1400" spc="-1" strike="noStrike">
              <a:solidFill>
                <a:srgbClr val="000000"/>
              </a:solidFill>
              <a:latin typeface="XO Orie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106;p3"/>
          <p:cNvSpPr/>
          <p:nvPr/>
        </p:nvSpPr>
        <p:spPr>
          <a:xfrm>
            <a:off x="114480" y="208080"/>
            <a:ext cx="5847480" cy="808560"/>
          </a:xfrm>
          <a:prstGeom prst="roundRect">
            <a:avLst>
              <a:gd name="adj" fmla="val 16667"/>
            </a:avLst>
          </a:prstGeom>
          <a:solidFill>
            <a:srgbClr val="b0c4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pc="-1" strike="noStrike">
              <a:solidFill>
                <a:srgbClr val="000000"/>
              </a:solidFill>
              <a:latin typeface="XO Oriel"/>
            </a:endParaRPr>
          </a:p>
        </p:txBody>
      </p:sp>
      <p:sp>
        <p:nvSpPr>
          <p:cNvPr id="47" name="Google Shape;107;p3"/>
          <p:cNvSpPr/>
          <p:nvPr/>
        </p:nvSpPr>
        <p:spPr>
          <a:xfrm>
            <a:off x="200160" y="326520"/>
            <a:ext cx="5847480" cy="80856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pc="-1" strike="noStrike">
              <a:solidFill>
                <a:srgbClr val="000000"/>
              </a:solidFill>
              <a:latin typeface="XO Oriel"/>
            </a:endParaRPr>
          </a:p>
        </p:txBody>
      </p:sp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360000" y="360000"/>
            <a:ext cx="5645520" cy="72468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2400" spc="-1" strike="noStrike">
                <a:solidFill>
                  <a:schemeClr val="lt1"/>
                </a:solidFill>
                <a:latin typeface="Montserrat Black"/>
                <a:ea typeface="Montserrat Black"/>
              </a:rPr>
              <a:t>Цель и задачи проекта</a:t>
            </a:r>
            <a:endParaRPr b="0" lang="ru-RU" sz="2400" spc="-1" strike="noStrike">
              <a:solidFill>
                <a:srgbClr val="000000"/>
              </a:solidFill>
              <a:latin typeface="XO Oriel"/>
            </a:endParaRPr>
          </a:p>
        </p:txBody>
      </p:sp>
      <p:sp>
        <p:nvSpPr>
          <p:cNvPr id="49" name="Google Shape;109;p3"/>
          <p:cNvSpPr/>
          <p:nvPr/>
        </p:nvSpPr>
        <p:spPr>
          <a:xfrm>
            <a:off x="529200" y="1407240"/>
            <a:ext cx="7842960" cy="336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90000" tIns="91440" bIns="91440" anchor="t">
            <a:normAutofit/>
          </a:bodyPr>
          <a:p>
            <a:pPr algn="just">
              <a:lnSpc>
                <a:spcPct val="100000"/>
              </a:lnSpc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Цель: улучшении стандартной версия игры Flappy Bird</a:t>
            </a:r>
            <a:endParaRPr b="0" lang="ru-RU" sz="1400" spc="-1" strike="noStrike">
              <a:solidFill>
                <a:srgbClr val="000000"/>
              </a:solidFill>
              <a:latin typeface="XO Oriel"/>
            </a:endParaRPr>
          </a:p>
          <a:p>
            <a:pPr algn="just">
              <a:lnSpc>
                <a:spcPct val="100000"/>
              </a:lnSpc>
              <a:tabLst>
                <a:tab algn="l" pos="0"/>
              </a:tabLst>
            </a:pPr>
            <a:endParaRPr b="0" lang="ru-RU" sz="1400" spc="-1" strike="noStrike">
              <a:solidFill>
                <a:srgbClr val="000000"/>
              </a:solidFill>
              <a:latin typeface="XO Oriel"/>
            </a:endParaRPr>
          </a:p>
          <a:p>
            <a:pPr algn="just">
              <a:lnSpc>
                <a:spcPct val="100000"/>
              </a:lnSpc>
              <a:tabLst>
                <a:tab algn="l" pos="0"/>
              </a:tabLst>
            </a:pPr>
            <a:r>
              <a:rPr b="0" lang="ru-RU" sz="1400" spc="-1" strike="noStrike">
                <a:solidFill>
                  <a:schemeClr val="dk1"/>
                </a:solidFill>
                <a:latin typeface="Montserrat"/>
                <a:ea typeface="Montserrat"/>
              </a:rPr>
              <a:t>Задачи проекта:</a:t>
            </a:r>
            <a:endParaRPr b="0" lang="ru-RU" sz="1400" spc="-1" strike="noStrike">
              <a:solidFill>
                <a:srgbClr val="000000"/>
              </a:solidFill>
              <a:latin typeface="XO Oriel"/>
            </a:endParaRPr>
          </a:p>
          <a:p>
            <a:pPr marL="457200" algn="just">
              <a:lnSpc>
                <a:spcPct val="100000"/>
              </a:lnSpc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- Реализовать физику птицы с гравитацией и вращением </a:t>
            </a:r>
            <a:endParaRPr b="0" lang="ru-RU" sz="1400" spc="-1" strike="noStrike">
              <a:solidFill>
                <a:srgbClr val="000000"/>
              </a:solidFill>
              <a:latin typeface="XO Oriel"/>
            </a:endParaRPr>
          </a:p>
          <a:p>
            <a:pPr marL="457200" algn="just">
              <a:lnSpc>
                <a:spcPct val="100000"/>
              </a:lnSpc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- Создать систему динамического уровня сложности </a:t>
            </a:r>
            <a:endParaRPr b="0" lang="ru-RU" sz="1400" spc="-1" strike="noStrike">
              <a:solidFill>
                <a:srgbClr val="000000"/>
              </a:solidFill>
              <a:latin typeface="XO Oriel"/>
            </a:endParaRPr>
          </a:p>
          <a:p>
            <a:pPr marL="457200" algn="just">
              <a:lnSpc>
                <a:spcPct val="100000"/>
              </a:lnSpc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- Добавить коллекционные элементы (звезды) и бонусы </a:t>
            </a:r>
            <a:endParaRPr b="0" lang="ru-RU" sz="1400" spc="-1" strike="noStrike">
              <a:solidFill>
                <a:srgbClr val="000000"/>
              </a:solidFill>
              <a:latin typeface="XO Oriel"/>
            </a:endParaRPr>
          </a:p>
          <a:p>
            <a:pPr marL="457200" algn="just">
              <a:lnSpc>
                <a:spcPct val="100000"/>
              </a:lnSpc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- Разработать систему достижений и таблицу лидеров </a:t>
            </a:r>
            <a:endParaRPr b="0" lang="ru-RU" sz="1400" spc="-1" strike="noStrike">
              <a:solidFill>
                <a:srgbClr val="000000"/>
              </a:solidFill>
              <a:latin typeface="XO Oriel"/>
            </a:endParaRPr>
          </a:p>
          <a:p>
            <a:pPr marL="457200" algn="just">
              <a:lnSpc>
                <a:spcPct val="100000"/>
              </a:lnSpc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- Реализовать полноценное меню, настройки и профиль игрока </a:t>
            </a:r>
            <a:endParaRPr b="0" lang="ru-RU" sz="1400" spc="-1" strike="noStrike">
              <a:solidFill>
                <a:srgbClr val="000000"/>
              </a:solidFill>
              <a:latin typeface="XO Oriel"/>
            </a:endParaRPr>
          </a:p>
          <a:p>
            <a:pPr marL="457200" algn="just">
              <a:lnSpc>
                <a:spcPct val="100000"/>
              </a:lnSpc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- Добавить визуальные и звуковые эффекты </a:t>
            </a:r>
            <a:endParaRPr b="0" lang="ru-RU" sz="1400" spc="-1" strike="noStrike">
              <a:solidFill>
                <a:srgbClr val="000000"/>
              </a:solidFill>
              <a:latin typeface="XO Oriel"/>
            </a:endParaRPr>
          </a:p>
          <a:p>
            <a:pPr marL="457200" algn="just">
              <a:lnSpc>
                <a:spcPct val="100000"/>
              </a:lnSpc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- Обеспечить адаптацию под различные экраны</a:t>
            </a:r>
            <a:endParaRPr b="0" lang="ru-RU" sz="1400" spc="-1" strike="noStrike">
              <a:solidFill>
                <a:srgbClr val="000000"/>
              </a:solidFill>
              <a:latin typeface="XO Orie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114;p6"/>
          <p:cNvSpPr/>
          <p:nvPr/>
        </p:nvSpPr>
        <p:spPr>
          <a:xfrm>
            <a:off x="114480" y="208080"/>
            <a:ext cx="5847480" cy="808560"/>
          </a:xfrm>
          <a:prstGeom prst="roundRect">
            <a:avLst>
              <a:gd name="adj" fmla="val 16667"/>
            </a:avLst>
          </a:prstGeom>
          <a:solidFill>
            <a:srgbClr val="b0c4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pc="-1" strike="noStrike">
              <a:solidFill>
                <a:srgbClr val="000000"/>
              </a:solidFill>
              <a:latin typeface="XO Oriel"/>
            </a:endParaRPr>
          </a:p>
        </p:txBody>
      </p:sp>
      <p:sp>
        <p:nvSpPr>
          <p:cNvPr id="51" name="Google Shape;115;p6"/>
          <p:cNvSpPr/>
          <p:nvPr/>
        </p:nvSpPr>
        <p:spPr>
          <a:xfrm>
            <a:off x="200160" y="326520"/>
            <a:ext cx="5847480" cy="80856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pc="-1" strike="noStrike">
              <a:solidFill>
                <a:srgbClr val="000000"/>
              </a:solidFill>
              <a:latin typeface="XO Oriel"/>
            </a:endParaRPr>
          </a:p>
        </p:txBody>
      </p:sp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360000" y="444960"/>
            <a:ext cx="5241960" cy="571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chemeClr val="lt1"/>
                </a:solidFill>
                <a:latin typeface="Montserrat Black"/>
                <a:ea typeface="Montserrat Black"/>
              </a:rPr>
              <a:t>Технологическая основа</a:t>
            </a:r>
            <a:endParaRPr b="0" lang="ru-RU" sz="2400" spc="-1" strike="noStrike">
              <a:solidFill>
                <a:srgbClr val="000000"/>
              </a:solidFill>
              <a:latin typeface="XO Oriel"/>
            </a:endParaRPr>
          </a:p>
        </p:txBody>
      </p:sp>
      <p:pic>
        <p:nvPicPr>
          <p:cNvPr id="53" name="Google Shape;117;p6" descr=""/>
          <p:cNvPicPr/>
          <p:nvPr/>
        </p:nvPicPr>
        <p:blipFill>
          <a:blip r:embed="rId1"/>
          <a:stretch/>
        </p:blipFill>
        <p:spPr>
          <a:xfrm>
            <a:off x="360000" y="1404000"/>
            <a:ext cx="6246000" cy="3206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122;p7"/>
          <p:cNvSpPr/>
          <p:nvPr/>
        </p:nvSpPr>
        <p:spPr>
          <a:xfrm>
            <a:off x="114480" y="208080"/>
            <a:ext cx="5847480" cy="808560"/>
          </a:xfrm>
          <a:prstGeom prst="roundRect">
            <a:avLst>
              <a:gd name="adj" fmla="val 16667"/>
            </a:avLst>
          </a:prstGeom>
          <a:solidFill>
            <a:srgbClr val="b0c4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pc="-1" strike="noStrike">
              <a:solidFill>
                <a:srgbClr val="000000"/>
              </a:solidFill>
              <a:latin typeface="XO Oriel"/>
            </a:endParaRPr>
          </a:p>
        </p:txBody>
      </p:sp>
      <p:sp>
        <p:nvSpPr>
          <p:cNvPr id="55" name="Google Shape;123;p7"/>
          <p:cNvSpPr/>
          <p:nvPr/>
        </p:nvSpPr>
        <p:spPr>
          <a:xfrm>
            <a:off x="200160" y="326520"/>
            <a:ext cx="5847480" cy="80856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pc="-1" strike="noStrike">
              <a:solidFill>
                <a:srgbClr val="000000"/>
              </a:solidFill>
              <a:latin typeface="XO Oriel"/>
            </a:endParaRPr>
          </a:p>
        </p:txBody>
      </p:sp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360000" y="444960"/>
            <a:ext cx="5241960" cy="571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chemeClr val="lt1"/>
                </a:solidFill>
                <a:latin typeface="Montserrat Black"/>
                <a:ea typeface="Montserrat Black"/>
              </a:rPr>
              <a:t>Интерфейс пользователя</a:t>
            </a:r>
            <a:endParaRPr b="0" lang="ru-RU" sz="2400" spc="-1" strike="noStrike">
              <a:solidFill>
                <a:srgbClr val="000000"/>
              </a:solidFill>
              <a:latin typeface="XO Oriel"/>
            </a:endParaRPr>
          </a:p>
        </p:txBody>
      </p:sp>
      <p:sp>
        <p:nvSpPr>
          <p:cNvPr id="57" name="Google Shape;125;p7"/>
          <p:cNvSpPr/>
          <p:nvPr/>
        </p:nvSpPr>
        <p:spPr>
          <a:xfrm>
            <a:off x="232920" y="1265040"/>
            <a:ext cx="7871040" cy="336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90000" tIns="91440" bIns="91440" anchor="t">
            <a:norm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pc="-1" strike="noStrike">
              <a:solidFill>
                <a:srgbClr val="000000"/>
              </a:solidFill>
              <a:latin typeface="XO Oriel"/>
            </a:endParaRPr>
          </a:p>
        </p:txBody>
      </p:sp>
      <p:pic>
        <p:nvPicPr>
          <p:cNvPr id="58" name="" descr=""/>
          <p:cNvPicPr/>
          <p:nvPr/>
        </p:nvPicPr>
        <p:blipFill>
          <a:blip r:embed="rId1"/>
          <a:stretch/>
        </p:blipFill>
        <p:spPr>
          <a:xfrm>
            <a:off x="230760" y="1246680"/>
            <a:ext cx="3188880" cy="1992960"/>
          </a:xfrm>
          <a:prstGeom prst="rect">
            <a:avLst/>
          </a:prstGeom>
          <a:ln w="0">
            <a:noFill/>
          </a:ln>
        </p:spPr>
      </p:pic>
      <p:pic>
        <p:nvPicPr>
          <p:cNvPr id="59" name="" descr=""/>
          <p:cNvPicPr/>
          <p:nvPr/>
        </p:nvPicPr>
        <p:blipFill>
          <a:blip r:embed="rId2"/>
          <a:stretch/>
        </p:blipFill>
        <p:spPr>
          <a:xfrm>
            <a:off x="5220000" y="1260000"/>
            <a:ext cx="3239640" cy="2024640"/>
          </a:xfrm>
          <a:prstGeom prst="rect">
            <a:avLst/>
          </a:prstGeom>
          <a:ln w="0">
            <a:noFill/>
          </a:ln>
        </p:spPr>
      </p:pic>
      <p:pic>
        <p:nvPicPr>
          <p:cNvPr id="60" name="" descr=""/>
          <p:cNvPicPr/>
          <p:nvPr/>
        </p:nvPicPr>
        <p:blipFill>
          <a:blip r:embed="rId3"/>
          <a:stretch/>
        </p:blipFill>
        <p:spPr>
          <a:xfrm>
            <a:off x="2700000" y="3231000"/>
            <a:ext cx="3059640" cy="1912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132;g3ce8891a6d8_0_11"/>
          <p:cNvSpPr/>
          <p:nvPr/>
        </p:nvSpPr>
        <p:spPr>
          <a:xfrm>
            <a:off x="114480" y="208080"/>
            <a:ext cx="5847480" cy="808560"/>
          </a:xfrm>
          <a:prstGeom prst="roundRect">
            <a:avLst>
              <a:gd name="adj" fmla="val 16667"/>
            </a:avLst>
          </a:prstGeom>
          <a:solidFill>
            <a:srgbClr val="b0c4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pc="-1" strike="noStrike">
              <a:solidFill>
                <a:srgbClr val="000000"/>
              </a:solidFill>
              <a:latin typeface="XO Oriel"/>
            </a:endParaRPr>
          </a:p>
        </p:txBody>
      </p:sp>
      <p:sp>
        <p:nvSpPr>
          <p:cNvPr id="62" name="Google Shape;133;g3ce8891a6d8_0_11"/>
          <p:cNvSpPr/>
          <p:nvPr/>
        </p:nvSpPr>
        <p:spPr>
          <a:xfrm>
            <a:off x="200160" y="326520"/>
            <a:ext cx="5847480" cy="80856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pc="-1" strike="noStrike">
              <a:solidFill>
                <a:srgbClr val="000000"/>
              </a:solidFill>
              <a:latin typeface="XO Oriel"/>
            </a:endParaRPr>
          </a:p>
        </p:txBody>
      </p:sp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360000" y="444960"/>
            <a:ext cx="5241960" cy="571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chemeClr val="lt1"/>
                </a:solidFill>
                <a:latin typeface="Montserrat Black"/>
                <a:ea typeface="Montserrat Black"/>
              </a:rPr>
              <a:t>Реализованный функционал</a:t>
            </a:r>
            <a:endParaRPr b="0" lang="ru-RU" sz="2400" spc="-1" strike="noStrike">
              <a:solidFill>
                <a:srgbClr val="000000"/>
              </a:solidFill>
              <a:latin typeface="XO Oriel"/>
            </a:endParaRPr>
          </a:p>
        </p:txBody>
      </p:sp>
      <p:pic>
        <p:nvPicPr>
          <p:cNvPr id="64" name="Google Shape;135;g3ce8891a6d8_0_11" descr=""/>
          <p:cNvPicPr/>
          <p:nvPr/>
        </p:nvPicPr>
        <p:blipFill>
          <a:blip r:embed="rId1"/>
          <a:stretch/>
        </p:blipFill>
        <p:spPr>
          <a:xfrm>
            <a:off x="200160" y="1236600"/>
            <a:ext cx="4709160" cy="3702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140;p9"/>
          <p:cNvSpPr/>
          <p:nvPr/>
        </p:nvSpPr>
        <p:spPr>
          <a:xfrm>
            <a:off x="114480" y="208080"/>
            <a:ext cx="5847480" cy="808560"/>
          </a:xfrm>
          <a:prstGeom prst="roundRect">
            <a:avLst>
              <a:gd name="adj" fmla="val 16667"/>
            </a:avLst>
          </a:prstGeom>
          <a:solidFill>
            <a:srgbClr val="b0c4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pc="-1" strike="noStrike">
              <a:solidFill>
                <a:srgbClr val="000000"/>
              </a:solidFill>
              <a:latin typeface="XO Oriel"/>
            </a:endParaRPr>
          </a:p>
        </p:txBody>
      </p:sp>
      <p:sp>
        <p:nvSpPr>
          <p:cNvPr id="66" name="Google Shape;141;p9"/>
          <p:cNvSpPr/>
          <p:nvPr/>
        </p:nvSpPr>
        <p:spPr>
          <a:xfrm>
            <a:off x="200160" y="326520"/>
            <a:ext cx="5847480" cy="80856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pc="-1" strike="noStrike">
              <a:solidFill>
                <a:srgbClr val="000000"/>
              </a:solidFill>
              <a:latin typeface="XO Oriel"/>
            </a:endParaRPr>
          </a:p>
        </p:txBody>
      </p:sp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360000" y="444960"/>
            <a:ext cx="5241960" cy="571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87222"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2400" spc="-1" strike="noStrike">
                <a:solidFill>
                  <a:schemeClr val="lt1"/>
                </a:solidFill>
                <a:latin typeface="Montserrat Black"/>
                <a:ea typeface="Montserrat Black"/>
              </a:rPr>
              <a:t>Перспективы развития проекта</a:t>
            </a:r>
            <a:r>
              <a:rPr b="1" lang="ru-RU" sz="2400" spc="-1" strike="noStrike">
                <a:solidFill>
                  <a:schemeClr val="lt1"/>
                </a:solidFill>
                <a:latin typeface="Montserrat Black"/>
                <a:ea typeface="Montserrat Black"/>
              </a:rPr>
              <a:t>	</a:t>
            </a:r>
            <a:endParaRPr b="0" lang="ru-RU" sz="2400" spc="-1" strike="noStrike">
              <a:solidFill>
                <a:srgbClr val="000000"/>
              </a:solidFill>
              <a:latin typeface="XO Orie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2400" spc="-1" strike="noStrike">
              <a:solidFill>
                <a:srgbClr val="000000"/>
              </a:solidFill>
              <a:latin typeface="XO Oriel"/>
            </a:endParaRPr>
          </a:p>
        </p:txBody>
      </p:sp>
      <p:sp>
        <p:nvSpPr>
          <p:cNvPr id="68" name="Google Shape;143;p9"/>
          <p:cNvSpPr/>
          <p:nvPr/>
        </p:nvSpPr>
        <p:spPr>
          <a:xfrm>
            <a:off x="200160" y="1265040"/>
            <a:ext cx="8570880" cy="372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90000" tIns="91440" bIns="91440" anchor="t">
            <a:noAutofit/>
          </a:bodyPr>
          <a:p>
            <a:pPr marL="457200" indent="-304920">
              <a:lnSpc>
                <a:spcPct val="150000"/>
              </a:lnSpc>
              <a:buClr>
                <a:srgbClr val="000000"/>
              </a:buClr>
              <a:buFont typeface="Montserrat"/>
              <a:buChar char="-"/>
            </a:pPr>
            <a:r>
              <a:rPr b="0" lang="ru-RU" sz="1200" spc="-1" strike="noStrike">
                <a:solidFill>
                  <a:srgbClr val="000000"/>
                </a:solidFill>
                <a:latin typeface="Montserrat"/>
                <a:ea typeface="Montserrat"/>
              </a:rPr>
              <a:t>Онлайн-таблица лидеров </a:t>
            </a:r>
            <a:endParaRPr b="0" lang="ru-RU" sz="1200" spc="-1" strike="noStrike">
              <a:solidFill>
                <a:srgbClr val="000000"/>
              </a:solidFill>
              <a:latin typeface="XO Oriel"/>
            </a:endParaRPr>
          </a:p>
          <a:p>
            <a:pPr marL="457200" indent="-304920">
              <a:lnSpc>
                <a:spcPct val="150000"/>
              </a:lnSpc>
              <a:buClr>
                <a:srgbClr val="000000"/>
              </a:buClr>
              <a:buFont typeface="Montserrat"/>
              <a:buChar char="-"/>
            </a:pPr>
            <a:r>
              <a:rPr b="0" lang="ru-RU" sz="1200" spc="-1" strike="noStrike">
                <a:solidFill>
                  <a:srgbClr val="000000"/>
                </a:solidFill>
                <a:latin typeface="Montserrat"/>
                <a:ea typeface="Montserrat"/>
              </a:rPr>
              <a:t> </a:t>
            </a:r>
            <a:r>
              <a:rPr b="0" lang="ru-RU" sz="1200" spc="-1" strike="noStrike">
                <a:solidFill>
                  <a:srgbClr val="000000"/>
                </a:solidFill>
                <a:latin typeface="Montserrat"/>
                <a:ea typeface="Montserrat"/>
              </a:rPr>
              <a:t>синхронизация с сервером для глобального рейтинга Скинты для птицы </a:t>
            </a:r>
            <a:endParaRPr b="0" lang="ru-RU" sz="1200" spc="-1" strike="noStrike">
              <a:solidFill>
                <a:srgbClr val="000000"/>
              </a:solidFill>
              <a:latin typeface="XO Oriel"/>
            </a:endParaRPr>
          </a:p>
          <a:p>
            <a:pPr marL="457200" indent="-304920">
              <a:lnSpc>
                <a:spcPct val="150000"/>
              </a:lnSpc>
              <a:buClr>
                <a:srgbClr val="000000"/>
              </a:buClr>
              <a:buFont typeface="Montserrat"/>
              <a:buChar char="-"/>
            </a:pPr>
            <a:r>
              <a:rPr b="0" lang="ru-RU" sz="1200" spc="-1" strike="noStrike">
                <a:solidFill>
                  <a:srgbClr val="000000"/>
                </a:solidFill>
                <a:latin typeface="Montserrat"/>
                <a:ea typeface="Montserrat"/>
              </a:rPr>
              <a:t> </a:t>
            </a:r>
            <a:r>
              <a:rPr b="0" lang="ru-RU" sz="1200" spc="-1" strike="noStrike">
                <a:solidFill>
                  <a:srgbClr val="000000"/>
                </a:solidFill>
                <a:latin typeface="Montserrat"/>
                <a:ea typeface="Montserrat"/>
              </a:rPr>
              <a:t>разблокируемые визуальные темы Ежедневные задания </a:t>
            </a:r>
            <a:endParaRPr b="0" lang="ru-RU" sz="1200" spc="-1" strike="noStrike">
              <a:solidFill>
                <a:srgbClr val="000000"/>
              </a:solidFill>
              <a:latin typeface="XO Oriel"/>
            </a:endParaRPr>
          </a:p>
          <a:p>
            <a:pPr marL="457200" indent="-304920">
              <a:lnSpc>
                <a:spcPct val="150000"/>
              </a:lnSpc>
              <a:buClr>
                <a:srgbClr val="000000"/>
              </a:buClr>
              <a:buFont typeface="Montserrat"/>
              <a:buChar char="-"/>
            </a:pPr>
            <a:r>
              <a:rPr b="0" lang="ru-RU" sz="1200" spc="-1" strike="noStrike">
                <a:solidFill>
                  <a:srgbClr val="000000"/>
                </a:solidFill>
                <a:latin typeface="Montserrat"/>
                <a:ea typeface="Montserrat"/>
              </a:rPr>
              <a:t> </a:t>
            </a:r>
            <a:r>
              <a:rPr b="0" lang="ru-RU" sz="1200" spc="-1" strike="noStrike">
                <a:solidFill>
                  <a:srgbClr val="000000"/>
                </a:solidFill>
                <a:latin typeface="Montserrat"/>
                <a:ea typeface="Montserrat"/>
              </a:rPr>
              <a:t>дополнительные цели для игроков Мультиплеер </a:t>
            </a:r>
            <a:endParaRPr b="0" lang="ru-RU" sz="1200" spc="-1" strike="noStrike">
              <a:solidFill>
                <a:srgbClr val="000000"/>
              </a:solidFill>
              <a:latin typeface="XO Oriel"/>
            </a:endParaRPr>
          </a:p>
          <a:p>
            <a:pPr marL="457200" indent="-304920">
              <a:lnSpc>
                <a:spcPct val="150000"/>
              </a:lnSpc>
              <a:buClr>
                <a:srgbClr val="000000"/>
              </a:buClr>
              <a:buFont typeface="Montserrat"/>
              <a:buChar char="-"/>
            </a:pPr>
            <a:r>
              <a:rPr b="0" lang="ru-RU" sz="1200" spc="-1" strike="noStrike">
                <a:solidFill>
                  <a:srgbClr val="000000"/>
                </a:solidFill>
                <a:latin typeface="Montserrat"/>
                <a:ea typeface="Montserrat"/>
              </a:rPr>
              <a:t> </a:t>
            </a:r>
            <a:r>
              <a:rPr b="0" lang="ru-RU" sz="1200" spc="-1" strike="noStrike">
                <a:solidFill>
                  <a:srgbClr val="000000"/>
                </a:solidFill>
                <a:latin typeface="Montserrat"/>
                <a:ea typeface="Montserrat"/>
              </a:rPr>
              <a:t>соревнование с другими игроками в реальном времени Новые уровни </a:t>
            </a:r>
            <a:endParaRPr b="0" lang="ru-RU" sz="1200" spc="-1" strike="noStrike">
              <a:solidFill>
                <a:srgbClr val="000000"/>
              </a:solidFill>
              <a:latin typeface="XO Oriel"/>
            </a:endParaRPr>
          </a:p>
          <a:p>
            <a:pPr marL="457200" indent="-304920">
              <a:lnSpc>
                <a:spcPct val="150000"/>
              </a:lnSpc>
              <a:buClr>
                <a:srgbClr val="000000"/>
              </a:buClr>
              <a:buFont typeface="Montserrat"/>
              <a:buChar char="-"/>
            </a:pPr>
            <a:r>
              <a:rPr b="0" lang="ru-RU" sz="1200" spc="-1" strike="noStrike">
                <a:solidFill>
                  <a:srgbClr val="000000"/>
                </a:solidFill>
                <a:latin typeface="Montserrat"/>
                <a:ea typeface="Montserrat"/>
              </a:rPr>
              <a:t> </a:t>
            </a:r>
            <a:r>
              <a:rPr b="0" lang="ru-RU" sz="1200" spc="-1" strike="noStrike">
                <a:solidFill>
                  <a:srgbClr val="000000"/>
                </a:solidFill>
                <a:latin typeface="Montserrat"/>
                <a:ea typeface="Montserrat"/>
              </a:rPr>
              <a:t>различные темы и препятствия Рекламная интеграция </a:t>
            </a:r>
            <a:endParaRPr b="0" lang="ru-RU" sz="1200" spc="-1" strike="noStrike">
              <a:solidFill>
                <a:srgbClr val="000000"/>
              </a:solidFill>
              <a:latin typeface="XO Oriel"/>
            </a:endParaRPr>
          </a:p>
          <a:p>
            <a:pPr marL="457200" indent="-304920">
              <a:lnSpc>
                <a:spcPct val="150000"/>
              </a:lnSpc>
              <a:buClr>
                <a:srgbClr val="000000"/>
              </a:buClr>
              <a:buFont typeface="Montserrat"/>
              <a:buChar char="-"/>
            </a:pPr>
            <a:r>
              <a:rPr b="0" lang="ru-RU" sz="1200" spc="-1" strike="noStrike">
                <a:solidFill>
                  <a:srgbClr val="000000"/>
                </a:solidFill>
                <a:latin typeface="Montserrat"/>
                <a:ea typeface="Montserrat"/>
              </a:rPr>
              <a:t>монетизация для Android-версии Облачные сохранения </a:t>
            </a:r>
            <a:endParaRPr b="0" lang="ru-RU" sz="1200" spc="-1" strike="noStrike">
              <a:solidFill>
                <a:srgbClr val="000000"/>
              </a:solidFill>
              <a:latin typeface="XO Oriel"/>
            </a:endParaRPr>
          </a:p>
          <a:p>
            <a:pPr marL="457200" indent="-304920">
              <a:lnSpc>
                <a:spcPct val="150000"/>
              </a:lnSpc>
              <a:buClr>
                <a:srgbClr val="000000"/>
              </a:buClr>
              <a:buFont typeface="Montserrat"/>
              <a:buChar char="-"/>
            </a:pPr>
            <a:r>
              <a:rPr b="0" lang="ru-RU" sz="1200" spc="-1" strike="noStrike">
                <a:solidFill>
                  <a:srgbClr val="000000"/>
                </a:solidFill>
                <a:latin typeface="Montserrat"/>
                <a:ea typeface="Montserrat"/>
              </a:rPr>
              <a:t>синхронизация прогресса между устройствами</a:t>
            </a:r>
            <a:endParaRPr b="0" lang="ru-RU" sz="1200" spc="-1" strike="noStrike">
              <a:solidFill>
                <a:srgbClr val="000000"/>
              </a:solidFill>
              <a:latin typeface="XO Orie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148;g3c89bc5bec0_0_0"/>
          <p:cNvSpPr/>
          <p:nvPr/>
        </p:nvSpPr>
        <p:spPr>
          <a:xfrm>
            <a:off x="114480" y="208080"/>
            <a:ext cx="5847480" cy="808560"/>
          </a:xfrm>
          <a:prstGeom prst="roundRect">
            <a:avLst>
              <a:gd name="adj" fmla="val 16667"/>
            </a:avLst>
          </a:prstGeom>
          <a:solidFill>
            <a:srgbClr val="b0c4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pc="-1" strike="noStrike">
              <a:solidFill>
                <a:srgbClr val="000000"/>
              </a:solidFill>
              <a:latin typeface="XO Oriel"/>
            </a:endParaRPr>
          </a:p>
        </p:txBody>
      </p:sp>
      <p:sp>
        <p:nvSpPr>
          <p:cNvPr id="70" name="Google Shape;149;g3c89bc5bec0_0_0"/>
          <p:cNvSpPr/>
          <p:nvPr/>
        </p:nvSpPr>
        <p:spPr>
          <a:xfrm>
            <a:off x="200160" y="326520"/>
            <a:ext cx="5847480" cy="80856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pc="-1" strike="noStrike">
              <a:solidFill>
                <a:srgbClr val="000000"/>
              </a:solidFill>
              <a:latin typeface="XO Oriel"/>
            </a:endParaRPr>
          </a:p>
        </p:txBody>
      </p:sp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360000" y="444960"/>
            <a:ext cx="5241960" cy="571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2400" spc="-1" strike="noStrike">
                <a:solidFill>
                  <a:schemeClr val="lt1"/>
                </a:solidFill>
                <a:latin typeface="Montserrat Black"/>
                <a:ea typeface="Montserrat Black"/>
              </a:rPr>
              <a:t>Защита данных</a:t>
            </a:r>
            <a:endParaRPr b="0" lang="ru-RU" sz="2400" spc="-1" strike="noStrike">
              <a:solidFill>
                <a:srgbClr val="000000"/>
              </a:solidFill>
              <a:latin typeface="XO Oriel"/>
            </a:endParaRPr>
          </a:p>
        </p:txBody>
      </p:sp>
      <p:sp>
        <p:nvSpPr>
          <p:cNvPr id="72" name="Google Shape;151;g3c89bc5bec0_0_0"/>
          <p:cNvSpPr/>
          <p:nvPr/>
        </p:nvSpPr>
        <p:spPr>
          <a:xfrm>
            <a:off x="317880" y="1271160"/>
            <a:ext cx="8534880" cy="362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-RU" sz="1400" spc="-1" strike="noStrike">
                <a:solidFill>
                  <a:schemeClr val="dk1"/>
                </a:solidFill>
                <a:latin typeface="Montserrat"/>
                <a:ea typeface="Montserrat"/>
              </a:rPr>
              <a:t>Защита данных по ТЗ не требуется</a:t>
            </a:r>
            <a:endParaRPr b="0" lang="ru-RU" sz="1400" spc="-1" strike="noStrike">
              <a:solidFill>
                <a:srgbClr val="000000"/>
              </a:solidFill>
              <a:latin typeface="XO Orie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/>
          </p:nvPr>
        </p:nvSpPr>
        <p:spPr>
          <a:xfrm>
            <a:off x="200160" y="1326960"/>
            <a:ext cx="8631360" cy="324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114480" indent="0">
              <a:lnSpc>
                <a:spcPct val="114000"/>
              </a:lnSpc>
              <a:buNone/>
              <a:tabLst>
                <a:tab algn="l" pos="0"/>
              </a:tabLst>
            </a:pPr>
            <a:r>
              <a:rPr b="0" lang="ru-RU" sz="1600" spc="-1" strike="noStrike">
                <a:solidFill>
                  <a:schemeClr val="dk1"/>
                </a:solidFill>
                <a:latin typeface="Montserrat"/>
                <a:ea typeface="Montserrat"/>
              </a:rPr>
              <a:t>Спасибо за внимание!</a:t>
            </a:r>
            <a:endParaRPr b="0" lang="ru-RU" sz="1600" spc="-1" strike="noStrike">
              <a:solidFill>
                <a:srgbClr val="000000"/>
              </a:solidFill>
              <a:latin typeface="XO Oriel"/>
            </a:endParaRPr>
          </a:p>
          <a:p>
            <a:pPr marL="114480" indent="0">
              <a:lnSpc>
                <a:spcPct val="114000"/>
              </a:lnSpc>
              <a:buNone/>
              <a:tabLst>
                <a:tab algn="l" pos="0"/>
              </a:tabLst>
            </a:pPr>
            <a:endParaRPr b="0" lang="ru-RU" sz="1600" spc="-1" strike="noStrike">
              <a:solidFill>
                <a:srgbClr val="000000"/>
              </a:solidFill>
              <a:latin typeface="XO Oriel"/>
            </a:endParaRPr>
          </a:p>
        </p:txBody>
      </p:sp>
      <p:sp>
        <p:nvSpPr>
          <p:cNvPr id="74" name="Google Shape;157;p10"/>
          <p:cNvSpPr/>
          <p:nvPr/>
        </p:nvSpPr>
        <p:spPr>
          <a:xfrm>
            <a:off x="114480" y="208080"/>
            <a:ext cx="5847480" cy="808560"/>
          </a:xfrm>
          <a:prstGeom prst="roundRect">
            <a:avLst>
              <a:gd name="adj" fmla="val 16667"/>
            </a:avLst>
          </a:prstGeom>
          <a:solidFill>
            <a:srgbClr val="b0c4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pc="-1" strike="noStrike">
              <a:solidFill>
                <a:srgbClr val="000000"/>
              </a:solidFill>
              <a:latin typeface="XO Oriel"/>
            </a:endParaRPr>
          </a:p>
        </p:txBody>
      </p:sp>
      <p:sp>
        <p:nvSpPr>
          <p:cNvPr id="75" name="Google Shape;158;p10"/>
          <p:cNvSpPr/>
          <p:nvPr/>
        </p:nvSpPr>
        <p:spPr>
          <a:xfrm>
            <a:off x="200160" y="326520"/>
            <a:ext cx="5847480" cy="80856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-RU" sz="2400" spc="-1" strike="noStrike">
                <a:solidFill>
                  <a:schemeClr val="lt1"/>
                </a:solidFill>
                <a:latin typeface="Montserrat"/>
                <a:ea typeface="Montserrat"/>
              </a:rPr>
              <a:t>Завершение</a:t>
            </a:r>
            <a:endParaRPr b="0" lang="ru-RU" sz="2400" spc="-1" strike="noStrike">
              <a:solidFill>
                <a:srgbClr val="000000"/>
              </a:solidFill>
              <a:latin typeface="XO Orie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Шаблон Вечерний ликбез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</TotalTime>
  <Application>Редактор_презентаций/2.8.0.0$Windows_X86_64 LibreOffice_project/23be6bd37ab86bda97c76fd4c1acfe070e32bfdb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dc:description/>
  <dc:language>ru-RU</dc:language>
  <cp:lastModifiedBy/>
  <dcterms:modified xsi:type="dcterms:W3CDTF">2026-04-07T17:17:44Z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6</vt:i4>
  </property>
  <property fmtid="{D5CDD505-2E9C-101B-9397-08002B2CF9AE}" pid="3" name="PresentationFormat">
    <vt:lpwstr>Экран (16:9)</vt:lpwstr>
  </property>
  <property fmtid="{D5CDD505-2E9C-101B-9397-08002B2CF9AE}" pid="4" name="Slides">
    <vt:i4>6</vt:i4>
  </property>
</Properties>
</file>